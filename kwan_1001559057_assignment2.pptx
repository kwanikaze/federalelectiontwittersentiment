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4CA5C9CE-30EB-4272-90F7-6E38A650A42C}">
  <a:tblStyle styleId="{4CA5C9CE-30EB-4272-90F7-6E38A650A42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aleway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6fb799bc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6fb799bc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93559821e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93559821e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6fb799bc1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6fb799bc1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79346bdc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79346bdc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793559821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793559821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20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MIE1624 Assignment 2 -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Kaggle Data Scientist Compensations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6301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 Kwan - 1001559057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&amp; Exploratory Data Analysis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45618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Goal: 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 Sentiment Analysis to understand how public opinion on Twitter can tell us about the 2019 Canadian Election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Evaluate how a model trained on generic tweets predicts the sentiment of political tweets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Evaluate NLP models to predict the reason for negative sentiment political tweets</a:t>
            </a:r>
            <a:endParaRPr/>
          </a:p>
          <a:p>
            <a:pPr indent="0" lvl="0" marL="9144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2 Raw Datasets: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Generic Tweets with sentiment from 2009, n = 200,000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Political Tweets with sentiment and reason, n =2,133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2375" y="2267850"/>
            <a:ext cx="4017825" cy="24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Rules and Feature Engineering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61029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both datasets, cleaned by lower case, stemming, remove all links, remove nltk stopwords, remove HTML tags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For political tweets: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Remove stop words with specific words and hashtags for the Canadian Election ("Canada", "#elxn43", "PM", "Vote2019"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Predicted Party in mentioned of tweet using count of keywords associated with each party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Liberal: #ChangeForward, #TrudeauMustGo, @JustinTrudeau, black face, SNC </a:t>
            </a:r>
            <a:r>
              <a:rPr lang="en"/>
              <a:t>Lavalin, #LPC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Conservative: #ScheerLies, @AndrewScheer, #CPC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NDP: @JagmeetSingh, orange, #NDP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2349" y="3384925"/>
            <a:ext cx="2199400" cy="14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Visualizations</a:t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152400" y="1853850"/>
            <a:ext cx="5260800" cy="12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actual (not predicted) number of positive and negative sentiment tweets correlates to the election results of Liberals 1st, Conservatives 2nd, NDP 3rd: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-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Conservatives have the most tweets, but &gt;60% are negative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-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Liberals are second in tweets, with # positive = # negative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-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NDP have the fewest tweets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Common negative sentiment reasons are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-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unclear (Other)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-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scandal (black face, SNC Lavalin)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-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lies (Trudeau failure to keep promises and Scheer making false claims)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4200" y="697100"/>
            <a:ext cx="2823175" cy="202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5962" y="2952225"/>
            <a:ext cx="1927230" cy="215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Results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491850" y="2046750"/>
            <a:ext cx="3393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Generic Tweets Sentiment </a:t>
            </a:r>
            <a:r>
              <a:rPr b="1" lang="en" sz="105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Prediction (5k features)</a:t>
            </a:r>
            <a:endParaRPr b="1" sz="105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6" name="Google Shape;116;p17"/>
          <p:cNvGraphicFramePr/>
          <p:nvPr/>
        </p:nvGraphicFramePr>
        <p:xfrm>
          <a:off x="805650" y="2492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{4CA5C9CE-30EB-4272-90F7-6E38A650A42C}</a:tableStyleId>
              </a:tblPr>
              <a:tblGrid>
                <a:gridCol w="884025"/>
                <a:gridCol w="780125"/>
                <a:gridCol w="914200"/>
              </a:tblGrid>
              <a:tr h="37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Algorithm</a:t>
                      </a:r>
                      <a:endParaRPr b="1"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WF </a:t>
                      </a:r>
                      <a:r>
                        <a:rPr b="1" lang="en" sz="1200"/>
                        <a:t>Accuracy</a:t>
                      </a:r>
                      <a:endParaRPr b="1"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TF-IDF Accuracy</a:t>
                      </a:r>
                      <a:endParaRPr b="1" sz="1200"/>
                    </a:p>
                  </a:txBody>
                  <a:tcPr marT="0" marB="0" marR="0" marL="0"/>
                </a:tc>
              </a:tr>
              <a:tr h="25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Logistic Regression</a:t>
                      </a:r>
                      <a:endParaRPr b="1"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rgbClr val="00FF00"/>
                          </a:highlight>
                        </a:rPr>
                        <a:t>0.7358</a:t>
                      </a:r>
                      <a:endParaRPr sz="1200">
                        <a:highlight>
                          <a:srgbClr val="00FF00"/>
                        </a:highlight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0.7336</a:t>
                      </a:r>
                      <a:endParaRPr sz="1200"/>
                    </a:p>
                  </a:txBody>
                  <a:tcPr marT="0" marB="0" marR="0" marL="0"/>
                </a:tc>
              </a:tr>
              <a:tr h="25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K-NN</a:t>
                      </a:r>
                      <a:endParaRPr b="1"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N/A</a:t>
                      </a:r>
                      <a:endParaRPr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N/A</a:t>
                      </a:r>
                      <a:endParaRPr sz="1200"/>
                    </a:p>
                  </a:txBody>
                  <a:tcPr marT="0" marB="0" marR="0" marL="0"/>
                </a:tc>
              </a:tr>
              <a:tr h="25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Naive Bayes</a:t>
                      </a:r>
                      <a:endParaRPr b="1"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0.727</a:t>
                      </a:r>
                      <a:endParaRPr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0.649</a:t>
                      </a:r>
                      <a:endParaRPr sz="1200"/>
                    </a:p>
                  </a:txBody>
                  <a:tcPr marT="0" marB="0" marR="0" marL="0"/>
                </a:tc>
              </a:tr>
              <a:tr h="25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SVM</a:t>
                      </a:r>
                      <a:endParaRPr b="1"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0.733</a:t>
                      </a:r>
                      <a:endParaRPr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0.732</a:t>
                      </a:r>
                      <a:endParaRPr sz="1200"/>
                    </a:p>
                  </a:txBody>
                  <a:tcPr marT="0" marB="0" marR="0" marL="0"/>
                </a:tc>
              </a:tr>
              <a:tr h="25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Decision Trees</a:t>
                      </a:r>
                      <a:endParaRPr b="1"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0.584</a:t>
                      </a:r>
                      <a:endParaRPr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0.591</a:t>
                      </a:r>
                      <a:endParaRPr sz="1200"/>
                    </a:p>
                  </a:txBody>
                  <a:tcPr marT="0" marB="0" marR="0" marL="0"/>
                </a:tc>
              </a:tr>
              <a:tr h="25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Random Forest</a:t>
                      </a:r>
                      <a:endParaRPr b="1"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0.606</a:t>
                      </a:r>
                      <a:endParaRPr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0.602</a:t>
                      </a:r>
                      <a:endParaRPr sz="1200"/>
                    </a:p>
                  </a:txBody>
                  <a:tcPr marT="0" marB="0" marR="0" marL="0"/>
                </a:tc>
              </a:tr>
              <a:tr h="250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XG Boost</a:t>
                      </a:r>
                      <a:endParaRPr b="1"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0.690</a:t>
                      </a:r>
                      <a:endParaRPr sz="1200"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0.690</a:t>
                      </a:r>
                      <a:endParaRPr sz="1200"/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4672150" y="2552750"/>
            <a:ext cx="3393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Evaluating the Logistic Regression with WF (Word Frequency) Features for </a:t>
            </a: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Sentiment </a:t>
            </a:r>
            <a:r>
              <a:rPr lang="en" sz="105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Prediction of Political Tweets: Accuracy = </a:t>
            </a:r>
            <a:r>
              <a:rPr lang="en" sz="105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0.503 :(</a:t>
            </a:r>
            <a:endParaRPr sz="1050">
              <a:solidFill>
                <a:srgbClr val="FF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→ Model trained on generic tweets unable to classify political tweets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F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Using multi-class Logistic Regression to predict the negative sentiment reason, Accuracy =</a:t>
            </a:r>
            <a:r>
              <a:rPr lang="en" sz="1050">
                <a:solidFill>
                  <a:srgbClr val="FF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5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0.5478 :(</a:t>
            </a:r>
            <a:endParaRPr sz="1050">
              <a:solidFill>
                <a:srgbClr val="FF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→ Small # of training samples for most classes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→ Overfitting since #features &gt; # training examples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4648200" y="2046750"/>
            <a:ext cx="3658500" cy="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Political Tweets</a:t>
            </a:r>
            <a:r>
              <a:rPr b="1" lang="en" sz="105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Sentiment </a:t>
            </a:r>
            <a:r>
              <a:rPr b="1" lang="en" sz="105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Prediction </a:t>
            </a:r>
            <a:endParaRPr b="1" sz="105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(5004 features, extra 4 from party classification)</a:t>
            </a:r>
            <a:endParaRPr b="1" sz="105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5401" y="742143"/>
            <a:ext cx="1710299" cy="121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400" y="742149"/>
            <a:ext cx="1550009" cy="111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and Future Work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729450" y="2078875"/>
            <a:ext cx="76887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Sentiment Analysis is useful, confirms that </a:t>
            </a:r>
            <a:r>
              <a:rPr lang="en"/>
              <a:t>higher proportion critical of the Conservatives since twitter demographics skew to a younger crowd:</a:t>
            </a:r>
            <a:endParaRPr/>
          </a:p>
          <a:p>
            <a:pPr indent="-3111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 Conservatives want to cut education, OSAP, don't support gay marriage and birth control which conflicts with the values of the younger population (who have debt, support taxes, support LGBT)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But,</a:t>
            </a:r>
            <a:r>
              <a:rPr b="1" lang="en"/>
              <a:t> </a:t>
            </a:r>
            <a:r>
              <a:rPr lang="en"/>
              <a:t>poor performance of models trained on generic tweets to predict sentiment of political tweets which could be misleading since it over-predicts the # of positive sentiment Conservative tweets and also poor performance on predicting the reason for negative sentiment due to small sample sizes.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Future Work:</a:t>
            </a:r>
            <a:endParaRPr b="1"/>
          </a:p>
          <a:p>
            <a:pPr indent="-31115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Train models on actual political tweets not generic tweets from 10 years ago</a:t>
            </a:r>
            <a:endParaRPr b="1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Better cleaning to remove common contractions and emojis, use counts of hashtags</a:t>
            </a:r>
            <a:endParaRPr b="1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Word embeddings(fastText), deep learning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